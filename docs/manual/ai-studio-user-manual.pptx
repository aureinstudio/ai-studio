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73152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맑은 고딕"/>
              </a:rPr>
              <a:t>AI-STUDIO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시연 사용설명서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맑은 고딕"/>
              </a:rPr>
              <a:t>v2.3.0 · 강사 · 수강생 · 운영자 시연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KEG · Korean Education Group   |   작성: 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1. 데모 계정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맑은 고딕"/>
              </a:rPr>
              <a:t>공통 비밀번호: rlarudtn2!  ·  로그인 후 role 기반 자동 라우팅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맑은 고딕"/>
              </a:rPr>
              <a:t>역할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190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이메일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71907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진입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수강생 (user)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5915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demo-student@ai-studio.kr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59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6AFF"/>
                </a:solidFill>
                <a:latin typeface="맑은 고딕"/>
              </a:rPr>
              <a:t>/dashboard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강사 (instructor)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992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demo-instructor@ai-studio.kr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992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6AFF"/>
                </a:solidFill>
                <a:latin typeface="맑은 고딕"/>
              </a:rPr>
              <a:t>/instructor/dashboard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맑은 고딕"/>
              </a:rPr>
              <a:t>운영자 (operations)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6393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demo-ops@ai-studio.kr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3931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6AFF"/>
                </a:solidFill>
                <a:latin typeface="맑은 고딕"/>
              </a:rPr>
              <a:t>/operations/dashboard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</a:rPr>
              <a:t>로그인 화면에서 → 비밀번호로 로그인 토글 후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맑은 고딕"/>
              </a:rPr>
              <a:t>주의: 시연용 약한 비밀번호. 시연 종료 즉시
  npx tsx scripts/seed-demo-users.ts --cleanup
으로 삭제 권장.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2. 시연 시나리오 (15분)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51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맑은 고딕"/>
              </a:rPr>
              <a:t>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051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맑은 고딕"/>
              </a:rPr>
              <a:t>보여줄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메인 + 로그인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원클릭 SSO·매직링크 둘 다 제공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1-4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40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강사 →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40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주제 한 줄 → 13개 에이전트가 책 한 권 5분에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9748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4-6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강사 → 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34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PPT 1장 → 영상까지 7개 에이전트 자동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6-9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수강생 → AI 튜터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이해도 자동 측정 → 운영자에 자동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9-11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수강생 → 코스/프로필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수료증·동의 철회까지 학습자가 자기 데이터 통제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12471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11-13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617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운영자 → 티켓/KPI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617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고객 성공 자동화 + 데이터 기반 결정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2120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FF"/>
                </a:solidFill>
                <a:latin typeface="맑은 고딕"/>
              </a:rPr>
              <a:t>13-15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맑은 고딕"/>
              </a:rPr>
              <a:t>통합 슈퍼 어드민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212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맑은 고딕"/>
              </a:rPr>
              <a:t>Phase 4 게이트·G4-C 결정 화면 (본부장 계정)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공통 — 메인 (/)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메인 (/)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비로그인 사용자가 처음 마주하는 진입점. 5초 안에 ai-studio의 가치 제안을 전달하고 3대 솔루션으로 안내합니다.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3대 솔루션(Studio·Cast·Tutor) 카드 소개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히어로 + CTA → 로그인/회원가입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다크 모드 토글 (전체 공통)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983" y="914400"/>
            <a:ext cx="4586034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공통 — 로그인 (/login)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로그인 (/login)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Supabase Auth 기반 로그인. 매직 링크가 기본이며, 시연·관리자 편의를 위해 비밀번호 로그인도 토글로 제공합니다.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기본 매직 링크 모드 → Resend 1회용 메일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하단 토글 → 비밀번호 로그인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IP brute-force 방어 15분/5회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role 기반 자동 라우팅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83297"/>
            <a:ext cx="7772400" cy="52571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공통 — 회원가입 (/signup)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3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회원가입 (/signup)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신규 사용자 가입. 가입 즉시 트리거가 profiles 행을 만들고, 약관·개인정보 동의 이력은 consent_log에 영구 보관됩니다.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이메일·비밀번호(8자+)·이름·약관 동의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가입 즉시 profiles 행 자동 생성 (트리거)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데모는 email_confirm 자동 처리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443" y="914400"/>
            <a:ext cx="6265114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공통 — 요금제 (/pricing)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4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요금제 (/pricing)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B2C·B2B 양쪽을 모두 커버하는 4단 플랜. Stripe Checkout으로 카드·해외결제까지 1클릭 처리합니다.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Free / Starter / Pro / Enterprise 4단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Stripe 연동 — 구독 시 Checkout Session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데모는 Stripe Test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770" y="914400"/>
            <a:ext cx="6600460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공통 — 블로그 (/blog)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5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공통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블로그 (/blog)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SEO·콘텐츠 마케팅 채널. 제품 업데이트·교육 인사이트·고객 사례를 발행해 검색 유입을 만듭니다.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발행된 blog_posts 카드 리스트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카테고리 필터 (제품/인사이트/케이스)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SEO 채널 — /admin/marketing에서 작성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-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3005"/>
            <a:ext cx="7772400" cy="485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대시보드 (/dashboard)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6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대시보드 (/dashboard)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수강생이 로그인 후 가장 먼저 보는 화면. 지금 이어서 학습할 코스, 이번 주 목표, 새 알림을 한 페이지에서 처리합니다.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진행 중 코스 + 이번 주 학습 목표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강사 메시지 / 수료 임박 알림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이력 기반 추천 코스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Server Component + cache()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772" y="914400"/>
            <a:ext cx="5288456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AI 튜터 (/tutor)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7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AI 튜터 (/tutor)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9개 에이전트가 협업하는 1:1 대화 학습. 학생의 이해도를 실시간으로 측정해 임계치 미만이면 운영자에게 자동 알립니다.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9개 에이전트 4팀 (Intent→RAG→Answer→Eval)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코스 자료 인용 출처 표시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이해도 자동 측정 → admin_alerts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&lt;50% 시 운영자 알림 자동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-tu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38" y="914400"/>
            <a:ext cx="7370723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수강 가능 코스 (/courses)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8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수강 가능 코스 (/courses)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SME 평가를 통과한 코스 카탈로그. 카테고리 필터로 좁힌 뒤 1클릭 수강 신청으로 student_enrollments에 등록됩니다.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카테고리 필터 (자격증/직무/언어/취미/학술)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studio_jobs is_sample=true 노출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신청 → student_enrollments 행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2-cour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21226"/>
            <a:ext cx="7772400" cy="53813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학습 샘플 (/samples)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9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학습 샘플 (/samples)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신규 사용자가 결제 없이 체험할 수 있는 무료 콘텐츠. 샘플 → 유료 전환율은 사업의 핵심 퍼널 지표입니다.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SME 3축 평가 통과 콘텐츠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정확성·완전성·일관성 점수 표시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샘플 → 유료 전환 퍼널의 핵심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-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40" y="914400"/>
            <a:ext cx="6310919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문의 (/support)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10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문의 (/support)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수강생이 직접 문의를 등록하는 창구. 제출 즉시 운영자에게 이메일이 발송되고, 본인 티켓만 RLS로 보호됩니다.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카테고리 4종 (기술/콘텐츠/결제/기타)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제출 → support_tickets 행 + 운영자 이메일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본인 티켓만 조회 (RLS)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4-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461" y="914400"/>
            <a:ext cx="6431078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수강생 — 온보딩 (/onboarding)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11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수강생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온보딩 (/onboarding)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가입 직후 5단계로 진행되는 첫 경험. 학습 목표·관심사·동의를 한 번에 수집해 이후 추천·알림에 활용합니다.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5단계 (목표·관심·시간·알림·약관)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consent_log에 동의 이력 기록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미완료 시 대시보드 진입 차단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-onboa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610" y="914400"/>
            <a:ext cx="6160779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강사 대시보드 (/instructor/dashboard)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12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강사 대시보드 (/instructor/dashboard)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강사 본인의 강의·학생·수익을 한눈에. 운영자 알림·SME 검수 대기·인센티브 정산을 동시에 확인합니다.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상단 KPI 4종 (강의·수강·매출·NPS)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콘텐츠 제안·SME 검수·인센티브 알림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최근 7일 학생 대화 요약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335" y="914400"/>
            <a:ext cx="2739330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Studio (/studio)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13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Studio (/studio)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13개 에이전트 4팀이 협업해 주제 한 줄을 책·슬라이드·퀴즈로 변환. 모든 단계 비용·로그·평가가 자동 기록됩니다.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13개 에이전트 4팀 — Book·Slide·Quiz 생성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TEAM 1~4 입력검증·생성·조정·SME평가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모든 호출 비용 cost_log 기록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실패 시 agent_logs에 단계별 에러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1-stud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691" y="914400"/>
            <a:ext cx="5784618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Cast (/cast)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14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Cast (/cast)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PPT 한 장에서 영상까지 7개 에이전트가 자동 처리. 슬라이드 10장 기준 3-5분, 슬라이드당 약 $0.30 비용입니다.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7개 에이전트 4팀 PPT → 영상 파이프라인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TTS · HeyGen · Whisper 자막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슬라이드 10장 기준 3-5분 / $0.30/슬라이드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산출물: 영상·자막·이미지 패키지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2-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3005"/>
            <a:ext cx="7772400" cy="485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Studio Pro (/studio-pro)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15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Studio Pro (/studio-pro)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강사 본인 자료를 RAG로 학습시켜 강사 고유 스타일을 보존한 콘텐츠를 생성. 음성·말투까지 1회 등록으로 모든 작업에 자동 적용됩니다.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강사 자료(PDF/PPT/음성) RAG 인덱싱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강사 스타일(말투·구조) 분석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본인 음성 1회 등록 → Cast에 자동 적용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Phase 4 핵심 차별화 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3-studio-p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025" y="914400"/>
            <a:ext cx="6639950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강사 자산 (/instructor/assets)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16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강사 자산 (/instructor/assets)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사진·음성·문서를 한곳에서 관리. 자산이 어느 코스·Cast 작업에 쓰였는지 역추적이 가능합니다.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사진·음성·PDF/PPT 통합 관리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자산별 사용 위치 표시 (코스/Cast)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메타데이터 편집 + 미리보기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4-as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616" y="914400"/>
            <a:ext cx="7462768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콘텐츠 제안 (/instructor/proposals)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17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콘텐츠 제안 (/instructor/proposals)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강사가 신규 코스 주제를 직접 제안하는 채널. 관리자 승인 시 Studio 큐로 자동 이관됩니다.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신규 코스 주제 제안 → 관리자 승인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draft / submitted / approved / rejected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승인 시 Studio 큐 자동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5-propo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15" y="914400"/>
            <a:ext cx="6404569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강사 NPS (/instructor/nps)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18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강사 NPS (/instructor/nps)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분기별 강사 NPS를 추적해 학습자 만족도를 정량 관리. 30점 미만이면 자동으로 코칭 트리거가 발동합니다.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분기별 NPS (Promoter% − Detractor%)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학습자 자유 의견 모음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NPS &lt; 30 → 강사 코칭 트리거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6-n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409" y="914400"/>
            <a:ext cx="6887182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강사 교육 (/instructor/training)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19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강사 교육 (/instructor/training)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신규 강사 온보딩 + 기존 강사 역량 강화 프로그램. 4 모듈 완료 시 Verified Instructor 배지가 부여됩니다.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4 모듈 (사용법·품질·케어·고급)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instructor_training_progress 기록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전체 완료 = Verified Instructor 배지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7-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516" y="914400"/>
            <a:ext cx="6622968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강사 — 주간 리포트 (/instructor/weekly-report)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20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강사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주간 리포트 (/instructor/weekly-report)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매주 월요일 아침에 자동 생성·발송되는 강사용 KPI 리포트. 본인 페이스와 정산 예상액을 한 페이지로 점검합니다.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시청 시간·신규 등록·이해도·신고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인센티브 정산 예상액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월요일 06:00 자동 메일 발송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8-weekly-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64260"/>
            <a:ext cx="7772400" cy="5095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운영팀 대시보드 (/operations/dashboard)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21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운영팀 대시보드 (/operations/dashboard)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운영자가 하루를 시작하는 화면. 처리해야 할 큐(베타·CS·위험·인시던트)와 비용·활성도를 한 페이지에 모았습니다.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KPI 4종 (베타·CS·위험알림·인시던트)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비용: 오늘/월/예산 진행률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학생 활성도 + 자주 쓰는 페이지 6종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0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522" y="914400"/>
            <a:ext cx="5880955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위험 학습자 (/admin/at-risk-students)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22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위험 학습자 (/admin/at-risk-students)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이탈 위험이 있는 학습자를 자동으로 선별해 케어 메시지로 회복을 시도합니다. 발송 효과는 care_messages_log로 추적합니다.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기준: 7일 로그인 없음 / 이해도&lt;50% / 과제미제출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위험 점수 0-100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케어 메시지 발송 → care_messages_log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1-at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39971"/>
            <a:ext cx="7772400" cy="51438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이메일 로그 (/admin/email-log)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23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이메일 로그 (/admin/email-log)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시스템이 보낸 모든 이메일(인증·알림·케어·청구)을 단일 큐로 추적. 실패 항목은 1클릭 재발송이 가능합니다.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전체 시스템 이메일 통합 추적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상태별 필터 + 실패 재발송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Resend ID 저장 → 대시보드 역추적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2-email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3005"/>
            <a:ext cx="7772400" cy="485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모니터링 (/admin/monitoring)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24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모니터링 (/admin/monitoring)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시스템 헬스·트래픽·비용을 실시간 통합 모니터링. 가장 비싼 작업 Top 10을 보고 비용 폭주를 조기에 발견합니다.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DB·Storage·Stripe·Resend 헬스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트래픽·에러율·상위 비용 작업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/api/admin/db-check 마이그레이션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3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34" y="914400"/>
            <a:ext cx="5206931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콘텐츠 조치 (/admin/remediation)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25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콘텐츠 조치 (/admin/remediation)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학습자 신고를 검토하고 조치하는 작업 큐. 24시간 SLA를 추적하고 반복 신고된 콘텐츠는 자동 우선순위로 올립니다.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신고 → 검토 → 조치 → 통보 흐름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SLA 24h 추적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반복 신고 콘텐츠 자동 강조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4-re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3005"/>
            <a:ext cx="7772400" cy="4857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런북 (/admin/runbook)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26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런북 (/admin/runbook)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장애·CS·비용·삭제 요청에 대한 표준 대응 절차. 신규 운영자가 첫 주에 학습할 단일 가이드입니다.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장애·CS·비용·삭제요청 표준 절차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마크다운 + 검색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신규 운영자 첫 주 학습 가이드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5-run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47921"/>
            <a:ext cx="7772400" cy="49279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운영자 — 수강생 관리 (/admin/students)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68335" y="118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  <a:latin typeface="맑은 고딕"/>
              </a:rPr>
              <a:t>27 /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914400" cy="36576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운영자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맑은 고딕"/>
              </a:rPr>
              <a:t>수강생 관리 (/admin/students)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i="1">
                <a:solidFill>
                  <a:srgbClr val="64748B"/>
                </a:solidFill>
                <a:latin typeface="맑은 고딕"/>
              </a:rPr>
              <a:t>전체 수강생을 검색·필터·일괄 작업으로 처리. v2.3.0에서 검색·CSV·일괄 작업 인프라가 추가되어 운영 효율이 크게 개선됐습니다.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65760" cy="20000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6AFF"/>
                </a:solidFill>
                <a:latin typeface="맑은 고딕"/>
              </a:rPr>
              <a:t>주요 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이름·이메일·이력·이해도·위험점수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SearchFilter + BulkActionBar (v2.3)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CSV 내보내기 (UTF-8 BOM Excel 호환)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2D6AFF"/>
                </a:solidFill>
                <a:latin typeface="맑은 고딕"/>
              </a:rPr>
              <a:t>•  </a:t>
            </a:r>
            <a:r>
              <a:rPr sz="1200">
                <a:solidFill>
                  <a:srgbClr val="0F172A"/>
                </a:solidFill>
                <a:latin typeface="맑은 고딕"/>
              </a:rPr>
              <a:t>상세 → 학습·결제·동의·티켓 통합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4800" y="894400"/>
            <a:ext cx="7812400" cy="543496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6-stud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788" y="914400"/>
            <a:ext cx="564424" cy="5394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</a:rPr>
              <a:t>ai-studio v2.3.0 · 시연 사용설명서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맑은 고딕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재캡쳐 / 데모 계정 갱신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286000" cy="54864"/>
          </a:xfrm>
          <a:prstGeom prst="rect">
            <a:avLst/>
          </a:prstGeom>
          <a:solidFill>
            <a:srgbClr val="2D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맑은 고딕"/>
              </a:rPr>
              <a:t># 1) 데모 계정 비밀번호·role 재설정
npm run seed:demo
# 2) 모든 페이지 스크린샷 갱신
BASE_URL=https://ai-studio-drab-nine.vercel.app \
  npm run capture
# 3) 시연 종료 후 데모 계정 삭제
npx tsx scripts/seed-demo-users.ts --cleanup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맑은 고딕"/>
              </a:rPr>
              <a:t>문의: aureinstudio@gmail.com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